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7" userDrawn="1">
          <p15:clr>
            <a:srgbClr val="A4A3A4"/>
          </p15:clr>
        </p15:guide>
        <p15:guide id="2" pos="2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17"/>
        <p:guide pos="2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54864" cy="4114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二维工艺系统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834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D5E0"/>
                </a:solidFill>
                <a:latin typeface="微软雅黑" panose="020B0503020204020204" charset="-122"/>
              </a:defRPr>
            </a:pPr>
            <a:r>
              <a:t>基于 2D 工艺图纸的 AI 智能工艺规程生成系统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3566160"/>
            <a:ext cx="2743200" cy="27432"/>
          </a:xfrm>
          <a:prstGeom prst="rect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2026 年 6 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1371600"/>
            <a:ext cx="2286000" cy="2286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18320" y="1645920"/>
            <a:ext cx="2286000" cy="2286000"/>
          </a:xfrm>
          <a:prstGeom prst="rect">
            <a:avLst/>
          </a:prstGeom>
          <a:noFill/>
          <a:ln w="25400">
            <a:solidFill>
              <a:srgbClr val="FF6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4846320"/>
            <a:ext cx="201168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5E0"/>
                </a:solidFill>
                <a:latin typeface="微软雅黑" panose="020B0503020204020204" charset="-122"/>
              </a:defRPr>
            </a:pPr>
            <a:r>
              <a:t>VLM 视觉提取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4846320"/>
            <a:ext cx="201168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4892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5E0"/>
                </a:solidFill>
                <a:latin typeface="微软雅黑" panose="020B0503020204020204" charset="-122"/>
              </a:defRPr>
            </a:pPr>
            <a:r>
              <a:t>RAG 检索增强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4846320"/>
            <a:ext cx="201168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4892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5E0"/>
                </a:solidFill>
                <a:latin typeface="微软雅黑" panose="020B0503020204020204" charset="-122"/>
              </a:defRPr>
            </a:pPr>
            <a:r>
              <a:t>SSE 流式输出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4846320"/>
            <a:ext cx="2011680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4892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D5E0"/>
                </a:solidFill>
                <a:latin typeface="微软雅黑" panose="020B0503020204020204" charset="-122"/>
              </a:defRPr>
            </a:pPr>
            <a:r>
              <a:t>SVG 标注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行业痛点与系统定位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微软雅黑" panose="020B0503020204020204" charset="-122"/>
              </a:defRPr>
            </a:pPr>
            <a:r>
              <a:t>行业痛点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8483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效率低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31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传统工艺规程编写依赖人工经验，单件耗时 1-2 小时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09067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易遗漏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337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2D 图纸特征提取纯靠手工，尺寸公差、粗糙度等易漏项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09651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4023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难复用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343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工艺知识分散在个人经验和 Excel 表格中，难以传承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10235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5029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重复劳动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349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同类零件重复编写工艺规程，浪费大量工时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463040"/>
            <a:ext cx="4846320" cy="47548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16459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系统定位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2860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用 AI 替代重复劳动，让工艺工程师聚焦核心判断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3017520"/>
            <a:ext cx="822960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03580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输入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017520"/>
            <a:ext cx="347472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2D 工艺图纸（PDF/PNG/JPG）</a:t>
            </a:r>
            <a:br/>
            <a:r>
              <a:t>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4114800"/>
            <a:ext cx="822960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413308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输出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1148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结构化工艺规程</a:t>
            </a:r>
            <a:br/>
            <a:r>
              <a:t>（工序号、工种、工序内容）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5212079"/>
            <a:ext cx="822960" cy="3657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5230367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5212079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VLM 视觉特征提取</a:t>
            </a:r>
            <a:br/>
            <a:r>
              <a:t>+ RAG 知识库检索增强生成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系统概述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核心业务流程与系统价值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828800" cy="10972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上传图纸</a:t>
            </a:r>
            <a:br/>
            <a:r>
              <a:t>/模型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645920"/>
            <a:ext cx="1828800" cy="10972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874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 特征</a:t>
            </a:r>
            <a:br/>
            <a:r>
              <a:t>提取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645920"/>
            <a:ext cx="1828800" cy="1097280"/>
          </a:xfrm>
          <a:prstGeom prst="roundRect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874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人工审阅</a:t>
            </a:r>
            <a:br/>
            <a:r>
              <a:t>确认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1645920"/>
            <a:ext cx="1828800" cy="10972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1874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工艺规程</a:t>
            </a:r>
            <a:br/>
            <a:r>
              <a:t>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1645920"/>
            <a:ext cx="1828800" cy="109728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18745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导出</a:t>
            </a:r>
            <a:br/>
            <a:r>
              <a:t>/入库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系统价值对比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31520" y="365760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434840"/>
                <a:gridCol w="443484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传统方式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智能系统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特征提取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人工逐项标注，30-60min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0B981"/>
                          </a:solidFill>
                          <a:latin typeface="微软雅黑" panose="020B0503020204020204" charset="-122"/>
                        </a:defRPr>
                      </a:pPr>
                      <a:r>
                        <a:t>AI 自动提取，2-5min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工艺编写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参考手册手写，1-2h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0B981"/>
                          </a:solidFill>
                          <a:latin typeface="微软雅黑" panose="020B0503020204020204" charset="-122"/>
                        </a:defRPr>
                      </a:pPr>
                      <a:r>
                        <a:t>RAG+LLM 生成，</a:t>
                      </a:r>
                      <a:r>
                        <a:rPr lang="en-US"/>
                        <a:t>1</a:t>
                      </a:r>
                      <a:r>
                        <a:t>-</a:t>
                      </a:r>
                      <a:r>
                        <a:rPr lang="en-US"/>
                        <a:t>3</a:t>
                      </a:r>
                      <a:r>
                        <a:t>min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知识复用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依赖个人经验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0B981"/>
                          </a:solidFill>
                          <a:latin typeface="微软雅黑" panose="020B0503020204020204" charset="-122"/>
                        </a:defRPr>
                      </a:pPr>
                      <a:r>
                        <a:t>知识库统一管理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质量一致性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因人而异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0B981"/>
                          </a:solidFill>
                          <a:latin typeface="微软雅黑" panose="020B0503020204020204" charset="-122"/>
                        </a:defRPr>
                      </a:pPr>
                      <a:r>
                        <a:t>标准化模板+AI辅助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技术栈与架构特点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5943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297680"/>
              </a:tblGrid>
              <a:tr h="51435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层次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技术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页面结构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HTML5 + CSS3 + 原生 JavaScript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3D 预览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Three.js + GLTFLoader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标注工具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自研 SVG BoundingBox 标注模块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PDF 导出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Vue 3 + jsPDF + OPPOSans 中文字体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后端通信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Fetch API + SSE 长连接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后端服务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Python Flask + SQLite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AI 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VLM 视觉语言模型 + RAG 检索增强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14630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架构特点</a:t>
            </a:r>
          </a:p>
        </p:txBody>
      </p:sp>
      <p:sp>
        <p:nvSpPr>
          <p:cNvPr id="8" name="Oval 7"/>
          <p:cNvSpPr/>
          <p:nvPr/>
        </p:nvSpPr>
        <p:spPr>
          <a:xfrm>
            <a:off x="7315200" y="2011680"/>
            <a:ext cx="109728" cy="109728"/>
          </a:xfrm>
          <a:prstGeom prst="ellipse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单页应用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2402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侧栏导航 + 页面切换，无刷新跳转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2788920"/>
            <a:ext cx="109728" cy="109728"/>
          </a:xfrm>
          <a:prstGeom prst="ellipse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流式通信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0175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SSE 长连接实时推送进度和工艺输出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0" y="3566160"/>
            <a:ext cx="109728" cy="109728"/>
          </a:xfrm>
          <a:prstGeom prst="ellipse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3520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打字机动画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7947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逐行逐字符输出工艺规程，模拟真人编写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0" y="4343400"/>
            <a:ext cx="109728" cy="109728"/>
          </a:xfrm>
          <a:prstGeom prst="ellipse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4297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多库隔离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5720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公共库（只读）+ 用户私有库（可编辑）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0" y="5120640"/>
            <a:ext cx="109728" cy="109728"/>
          </a:xfrm>
          <a:prstGeom prst="ellipse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特征缓存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53492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按文件 hash 缓存，重复上传秒级响应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0" y="5897880"/>
            <a:ext cx="109728" cy="109728"/>
          </a:xfrm>
          <a:prstGeom prst="ellipse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5852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零构建依赖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6126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全量原生开发，无需 Node/Webpack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功能总览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四大核心模块与辅助功能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custDataLst>
              <p:tags r:id="rId1"/>
            </p:custDataLst>
          </p:nvPr>
        </p:nvSpPr>
        <p:spPr>
          <a:xfrm>
            <a:off x="731520" y="1463040"/>
            <a:ext cx="256032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2"/>
            </p:custDataLst>
          </p:nvPr>
        </p:nvSpPr>
        <p:spPr>
          <a:xfrm>
            <a:off x="731520" y="1463040"/>
            <a:ext cx="256032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91440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工艺入库</a:t>
            </a: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914400" y="21945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ZIP 工艺包批量导入知识库</a:t>
            </a:r>
            <a:br/>
            <a:r>
              <a:t>支持新建库/选择已有库</a:t>
            </a:r>
            <a:br/>
            <a:r>
              <a:t>替换/保留旧版冲突模式</a:t>
            </a:r>
            <a:br/>
            <a:r>
              <a:t>实时进度 + 匹配结果</a:t>
            </a:r>
          </a:p>
        </p:txBody>
      </p:sp>
      <p:sp>
        <p:nvSpPr>
          <p:cNvPr id="10" name="Rectangle 9"/>
          <p:cNvSpPr/>
          <p:nvPr>
            <p:custDataLst>
              <p:tags r:id="rId5"/>
            </p:custDataLst>
          </p:nvPr>
        </p:nvSpPr>
        <p:spPr>
          <a:xfrm>
            <a:off x="3566160" y="1463040"/>
            <a:ext cx="256032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>
            <p:custDataLst>
              <p:tags r:id="rId6"/>
            </p:custDataLst>
          </p:nvPr>
        </p:nvSpPr>
        <p:spPr>
          <a:xfrm>
            <a:off x="3566160" y="1463040"/>
            <a:ext cx="2560320" cy="54864"/>
          </a:xfrm>
          <a:prstGeom prst="rect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374904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528"/>
                </a:solidFill>
                <a:latin typeface="微软雅黑" panose="020B0503020204020204" charset="-122"/>
              </a:defRPr>
            </a:pPr>
            <a:r>
              <a:t>工艺生成</a:t>
            </a: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3749040" y="21945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上传图纸 AI 自动提取特征</a:t>
            </a:r>
            <a:br/>
            <a:r>
              <a:t>YOLO 自动检测标注</a:t>
            </a:r>
            <a:br/>
            <a:r>
              <a:t>RAG 检索 + LLM 生成工艺</a:t>
            </a:r>
            <a:br/>
            <a:r>
              <a:t>打字机动画逐行输出</a:t>
            </a:r>
          </a:p>
        </p:txBody>
      </p:sp>
      <p:sp>
        <p:nvSpPr>
          <p:cNvPr id="14" name="Rectangle 13"/>
          <p:cNvSpPr/>
          <p:nvPr>
            <p:custDataLst>
              <p:tags r:id="rId9"/>
            </p:custDataLst>
          </p:nvPr>
        </p:nvSpPr>
        <p:spPr>
          <a:xfrm>
            <a:off x="6400800" y="1463040"/>
            <a:ext cx="256032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10"/>
            </p:custDataLst>
          </p:nvPr>
        </p:nvSpPr>
        <p:spPr>
          <a:xfrm>
            <a:off x="6400800" y="1463040"/>
            <a:ext cx="2560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658368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微软雅黑" panose="020B0503020204020204" charset="-122"/>
              </a:defRPr>
            </a:pPr>
            <a:r>
              <a:t>历史记录</a:t>
            </a:r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6583680" y="2194560"/>
            <a:ext cx="2194560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浏览所有历史生成任务</a:t>
            </a:r>
            <a:br/>
            <a:r>
              <a:t>统计概览（总数/完成/工序）</a:t>
            </a:r>
            <a:br/>
            <a:r>
              <a:t>快照回看 + </a:t>
            </a:r>
            <a:r>
              <a:rPr lang="en-US"/>
              <a:t>2</a:t>
            </a:r>
            <a:r>
              <a:t>D 预览</a:t>
            </a:r>
            <a:br/>
            <a:r>
              <a:t>批量管理 + 分页筛选</a:t>
            </a:r>
          </a:p>
        </p:txBody>
      </p:sp>
      <p:sp>
        <p:nvSpPr>
          <p:cNvPr id="18" name="Rectangle 17"/>
          <p:cNvSpPr/>
          <p:nvPr>
            <p:custDataLst>
              <p:tags r:id="rId13"/>
            </p:custDataLst>
          </p:nvPr>
        </p:nvSpPr>
        <p:spPr>
          <a:xfrm>
            <a:off x="9235440" y="1463040"/>
            <a:ext cx="2560320" cy="3200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>
            <p:custDataLst>
              <p:tags r:id="rId14"/>
            </p:custDataLst>
          </p:nvPr>
        </p:nvSpPr>
        <p:spPr>
          <a:xfrm>
            <a:off x="9235440" y="1463040"/>
            <a:ext cx="256032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15"/>
            </p:custDataLst>
          </p:nvPr>
        </p:nvSpPr>
        <p:spPr>
          <a:xfrm>
            <a:off x="9418320" y="1691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  <a:latin typeface="微软雅黑" panose="020B0503020204020204" charset="-122"/>
              </a:defRPr>
            </a:pPr>
            <a:r>
              <a:t>数据库浏览</a:t>
            </a:r>
          </a:p>
        </p:txBody>
      </p:sp>
      <p:sp>
        <p:nvSpPr>
          <p:cNvPr id="21" name="TextBox 20"/>
          <p:cNvSpPr txBox="1"/>
          <p:nvPr>
            <p:custDataLst>
              <p:tags r:id="rId16"/>
            </p:custDataLst>
          </p:nvPr>
        </p:nvSpPr>
        <p:spPr>
          <a:xfrm>
            <a:off x="9418320" y="219456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浏览编辑知识库记录</a:t>
            </a:r>
            <a:br/>
            <a:r>
              <a:t>多库隔离（公共/私有）</a:t>
            </a:r>
            <a:br/>
            <a:r>
              <a:t>三栏布局（筛选/列表/详情）</a:t>
            </a:r>
            <a:br/>
            <a:r>
              <a:t>支持记录编辑和删除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辅助功能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•  SVG 矢量标注工具（YOLO + 人工）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486400"/>
            <a:ext cx="50292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•  </a:t>
            </a:r>
            <a:r>
              <a:rPr lang="en-US"/>
              <a:t>2</a:t>
            </a:r>
            <a:r>
              <a:t>D </a:t>
            </a:r>
            <a:r>
              <a:rPr lang="zh-CN"/>
              <a:t>图纸</a:t>
            </a:r>
            <a:r>
              <a:t>预览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97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•  PDF 工艺卡片导出（jsPDF）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897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•  特征缓存机制（重复上传加速）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工艺入库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ZIP 工艺包批量导入知识库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核心特性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 入库目标：支持选择已有库或新建私有工艺库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 冲突模式：替换入库 / 保留旧版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 实时进度：空闲 → 上传中 → 解析中 → 入库中 → 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 结果展示：已匹配记录、未匹配项、批次日志三个 Tab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入库流程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645920" cy="8229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92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选择 ZIP 文件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39" y="4754880"/>
            <a:ext cx="1645920" cy="8229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39" y="4892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选择目标库</a:t>
            </a:r>
            <a:br/>
            <a:r>
              <a:t>冲突模式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59" y="4754880"/>
            <a:ext cx="1645920" cy="8229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59" y="4892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系统解析</a:t>
            </a:r>
            <a:br/>
            <a:r>
              <a:t>匹配内容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79" y="4754880"/>
            <a:ext cx="1645920" cy="8229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79" y="4892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逐条入库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799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754880"/>
            <a:ext cx="1645920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48920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显示匹配</a:t>
            </a:r>
            <a:br/>
            <a:r>
              <a:t>结果日志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6450" y="1518285"/>
            <a:ext cx="5922010" cy="2816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工艺生成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上传图纸 → AI 提取 → 生成工艺规程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完整流程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645920" cy="8229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① 上传图纸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PDF/PNG/JPG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39" y="2011680"/>
            <a:ext cx="1645920" cy="822960"/>
          </a:xfrm>
          <a:prstGeom prst="roundRect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39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② AI 提取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VLM 视觉分析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2011680"/>
            <a:ext cx="1645920" cy="8229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59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③ YOLO 检测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自动标注特征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79" y="2011680"/>
            <a:ext cx="1645920" cy="8229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79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④ 人工审阅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确认/修改特征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0999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011680"/>
            <a:ext cx="1645920" cy="822960"/>
          </a:xfrm>
          <a:prstGeom prst="roundRect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⑤ 工艺生成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RAG+LLM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1945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04120" y="2011680"/>
            <a:ext cx="1645920" cy="822960"/>
          </a:xfrm>
          <a:prstGeom prst="round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0412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⑥ 流式输出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FDBFE"/>
                </a:solidFill>
                <a:latin typeface="微软雅黑" panose="020B0503020204020204" charset="-122"/>
              </a:defRPr>
            </a:pPr>
            <a:r>
              <a:t>打字机动画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界面布局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 左侧：图纸预览（支持多页翻页、缩放、全屏）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160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 右侧：特征审阅 Tab + 工艺规程 Tab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 顶部：统一进度条 + 阶段提示（呼吸灯动画）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9834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 底部：工具栏（上传/选择知识库/特征缓存/重置）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2655" y="3319145"/>
            <a:ext cx="5659755" cy="26917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标注工具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YOLO 自动检测 + 人工精修标注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核心能力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•  YOLO 自动检测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011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AI 自动识别倒角、螺纹孔、圆孔等特征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•  人工标注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鼠标拖拽绘制矩形框，右键删除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•  标签系统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内建 3 类标签 + 自定义标签（持久化）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•  多页支持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PDF 多页独立标注，切换自动保存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•  缩放适配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206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Ctrl+滚轮缩放，适应视口/100%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•  双向联动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754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画布点击↔列表点击，自动滚动定位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•  自动保存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303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1s 防抖 + sendBeacon 页面关闭兜底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52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•  导出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852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标注数据导出为 ZIP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31520" y="5120640"/>
          <a:ext cx="473392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990725"/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标签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颜色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键名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倒角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#f59e0b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chamfer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螺纹孔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#6366f1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threaded_hole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/>
                        <a:t>通孔</a:t>
                      </a:r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#10b981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en-US"/>
                        <a:t>through</a:t>
                      </a:r>
                      <a:r>
                        <a:t>_hole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自定义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循环色池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用户自定义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5" name="图片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1190" y="2048510"/>
            <a:ext cx="5718810" cy="27254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历史记录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浏览所有历史工艺生成任务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核心特性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 统计概览：总任务数、已完成数、待审阅数、总工序数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 任务列表：任务名、状态、完成时间、工序数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 快照回看：分栏预览（左图右文），支持图片缩放/翻页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 批量管理：多选删除、按日期筛选、分页浏览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任务状态体系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" y="4937760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</a:tblGrid>
              <a:tr h="23513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状态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排队中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等待处理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图纸分析中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AI 正在提取特征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特征审阅中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等待人工确认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工艺生成中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RAG+LLM 生成工艺</a:t>
                      </a:r>
                    </a:p>
                  </a:txBody>
                  <a:tcPr/>
                </a:tc>
              </a:tr>
              <a:tr h="2351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已完成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工艺规程已生成</a:t>
                      </a:r>
                    </a:p>
                  </a:txBody>
                  <a:tcPr/>
                </a:tc>
              </a:tr>
              <a:tr h="23513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失败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处理异常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6960" y="1572895"/>
            <a:ext cx="5462905" cy="259778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465" y="4373880"/>
            <a:ext cx="4153535" cy="22942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数据库浏览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知识库管理与工艺记录编辑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核心特性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 访问控制：默认锁定，需先完成一次 ZIP 入库解锁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 多库架构：公共工艺库（只读）+ 用户私有库（可编辑）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 三栏布局：左侧筛选、中间记录列表、右侧详情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 筛选维度：关键词、产品类型、来源、状态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 详情编辑：记录元数据、模型快照、工艺内容、特征报告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•  操作：编辑记录、删除废表、删除整个用户库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20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知识库隔离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5486400"/>
          <a:ext cx="5029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库类型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权限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1A56D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公共工艺库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只读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全局共享基线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用户私有库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读写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E293B"/>
                          </a:solidFill>
                          <a:latin typeface="微软雅黑" panose="020B0503020204020204" charset="-122"/>
                        </a:defRPr>
                      </a:pPr>
                      <a:r>
                        <a:t>个人工艺积累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920240"/>
            <a:ext cx="5981700" cy="32232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AI 核心能力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VLM 视觉提取 + RAG 检索增强生成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29200" cy="4846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VLM 视觉特征提取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输入：2D 工艺图纸（PDF/PNG/JPG）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输出：结构化特征报告</a:t>
            </a:r>
          </a:p>
        </p:txBody>
      </p:sp>
      <p:sp>
        <p:nvSpPr>
          <p:cNvPr id="10" name="Oval 9"/>
          <p:cNvSpPr/>
          <p:nvPr/>
        </p:nvSpPr>
        <p:spPr>
          <a:xfrm>
            <a:off x="1188720" y="310896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3063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尺寸公差</a:t>
            </a:r>
          </a:p>
        </p:txBody>
      </p:sp>
      <p:sp>
        <p:nvSpPr>
          <p:cNvPr id="12" name="Oval 11"/>
          <p:cNvSpPr/>
          <p:nvPr/>
        </p:nvSpPr>
        <p:spPr>
          <a:xfrm>
            <a:off x="3474720" y="310896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3063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表面粗糙度</a:t>
            </a:r>
          </a:p>
        </p:txBody>
      </p:sp>
      <p:sp>
        <p:nvSpPr>
          <p:cNvPr id="14" name="Oval 13"/>
          <p:cNvSpPr/>
          <p:nvPr/>
        </p:nvSpPr>
        <p:spPr>
          <a:xfrm>
            <a:off x="1188720" y="356616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形位公差</a:t>
            </a:r>
          </a:p>
        </p:txBody>
      </p:sp>
      <p:sp>
        <p:nvSpPr>
          <p:cNvPr id="16" name="Oval 15"/>
          <p:cNvSpPr/>
          <p:nvPr/>
        </p:nvSpPr>
        <p:spPr>
          <a:xfrm>
            <a:off x="3474720" y="356616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材料信息</a:t>
            </a:r>
          </a:p>
        </p:txBody>
      </p:sp>
      <p:sp>
        <p:nvSpPr>
          <p:cNvPr id="18" name="Oval 17"/>
          <p:cNvSpPr/>
          <p:nvPr/>
        </p:nvSpPr>
        <p:spPr>
          <a:xfrm>
            <a:off x="1188720" y="402336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7320" y="3977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加工要求</a:t>
            </a:r>
          </a:p>
        </p:txBody>
      </p:sp>
      <p:sp>
        <p:nvSpPr>
          <p:cNvPr id="20" name="Oval 19"/>
          <p:cNvSpPr/>
          <p:nvPr/>
        </p:nvSpPr>
        <p:spPr>
          <a:xfrm>
            <a:off x="3474720" y="402336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3977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热处理要求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528"/>
                </a:solidFill>
                <a:latin typeface="微软雅黑" panose="020B0503020204020204" charset="-122"/>
              </a:defRPr>
            </a:pPr>
            <a:r>
              <a:t>特征缓存机制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206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按文件 hash 判断是否为同一份图纸，开启后跳过 VLM 特征提取，</a:t>
            </a:r>
            <a:br/>
            <a:r>
              <a:t>直接返回上次结果，加速重复上传场景。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463040"/>
            <a:ext cx="5029200" cy="4846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528"/>
                </a:solidFill>
                <a:latin typeface="微软雅黑" panose="020B0503020204020204" charset="-122"/>
              </a:defRPr>
            </a:pPr>
            <a:r>
              <a:t>RAG 检索增强生成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286000"/>
            <a:ext cx="54864" cy="548640"/>
          </a:xfrm>
          <a:prstGeom prst="rect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2286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① 知识库检索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606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在工艺知识库中检索相似工艺记录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75120" y="3200400"/>
            <a:ext cx="54864" cy="548640"/>
          </a:xfrm>
          <a:prstGeom prst="rect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0" y="3200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② 特征融合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520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结合 AI 特征报告和检索结果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4114800"/>
            <a:ext cx="54864" cy="548640"/>
          </a:xfrm>
          <a:prstGeom prst="rect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③ LLM 生成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434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大语言模型生成结构化工艺规程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5029200"/>
            <a:ext cx="54864" cy="548640"/>
          </a:xfrm>
          <a:prstGeom prst="rect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5029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④ 流式输出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5349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SSE 推送 + 打字机逐行输出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微软雅黑" panose="020B0503020204020204" charset="-122"/>
              </a:defRPr>
            </a:pPr>
            <a:r>
              <a:t>输出格式：工序号 @ 工种 @ 工序内容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84648" y="1371600"/>
            <a:ext cx="182880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56DB"/>
                </a:solidFill>
                <a:latin typeface="Cascadia Code" panose="020B0609020000020004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3840480"/>
            <a:ext cx="1828800" cy="27432"/>
          </a:xfrm>
          <a:prstGeom prst="rect">
            <a:avLst/>
          </a:prstGeom>
          <a:solidFill>
            <a:srgbClr val="FF6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D5E0"/>
                </a:solidFill>
                <a:latin typeface="微软雅黑" panose="020B0503020204020204" charset="-122"/>
              </a:defRPr>
            </a:pPr>
            <a:r>
              <a:t>二维工艺系统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5120640"/>
            <a:ext cx="17373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515721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5E0"/>
                </a:solidFill>
                <a:latin typeface="微软雅黑" panose="020B0503020204020204" charset="-122"/>
              </a:defRPr>
            </a:pPr>
            <a:r>
              <a:t>VLM 视觉提取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5120640"/>
            <a:ext cx="17373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515721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5E0"/>
                </a:solidFill>
                <a:latin typeface="微软雅黑" panose="020B0503020204020204" charset="-122"/>
              </a:defRPr>
            </a:pPr>
            <a:r>
              <a:t>RAG 检索增强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5120640"/>
            <a:ext cx="17373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515721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5E0"/>
                </a:solidFill>
                <a:latin typeface="微软雅黑" panose="020B0503020204020204" charset="-122"/>
              </a:defRPr>
            </a:pPr>
            <a:r>
              <a:t>SSE 流式输出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5120640"/>
            <a:ext cx="1737360" cy="3657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515721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D5E0"/>
                </a:solidFill>
                <a:latin typeface="微软雅黑" panose="020B0503020204020204" charset="-122"/>
              </a:defRPr>
            </a:pPr>
            <a:r>
              <a:t>SVG 标注工具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84648" y="5943600"/>
            <a:ext cx="182880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2,&quot;left&quot;:57.6,&quot;top&quot;:115.2,&quot;width&quot;:871.2}"/>
</p:tagLst>
</file>

<file path=ppt/tags/tag2.xml><?xml version="1.0" encoding="utf-8"?>
<p:tagLst xmlns:p="http://schemas.openxmlformats.org/presentationml/2006/main">
  <p:tag name="KSO_WM_DIAGRAM_VIRTUALLY_FRAME" val="{&quot;height&quot;:252,&quot;left&quot;:57.6,&quot;top&quot;:115.2,&quot;width&quot;:871.2}"/>
</p:tagLst>
</file>

<file path=ppt/tags/tag3.xml><?xml version="1.0" encoding="utf-8"?>
<p:tagLst xmlns:p="http://schemas.openxmlformats.org/presentationml/2006/main">
  <p:tag name="KSO_WM_DIAGRAM_VIRTUALLY_FRAME" val="{&quot;height&quot;:252,&quot;left&quot;:57.6,&quot;top&quot;:115.2,&quot;width&quot;:871.2}"/>
</p:tagLst>
</file>

<file path=ppt/tags/tag4.xml><?xml version="1.0" encoding="utf-8"?>
<p:tagLst xmlns:p="http://schemas.openxmlformats.org/presentationml/2006/main">
  <p:tag name="KSO_WM_DIAGRAM_VIRTUALLY_FRAME" val="{&quot;height&quot;:252,&quot;left&quot;:57.6,&quot;top&quot;:115.2,&quot;width&quot;:871.2}"/>
</p:tagLst>
</file>

<file path=ppt/tags/tag5.xml><?xml version="1.0" encoding="utf-8"?>
<p:tagLst xmlns:p="http://schemas.openxmlformats.org/presentationml/2006/main">
  <p:tag name="KSO_WM_DIAGRAM_VIRTUALLY_FRAME" val="{&quot;height&quot;:252,&quot;left&quot;:57.6,&quot;top&quot;:115.2,&quot;width&quot;:871.2}"/>
</p:tagLst>
</file>

<file path=ppt/tags/tag6.xml><?xml version="1.0" encoding="utf-8"?>
<p:tagLst xmlns:p="http://schemas.openxmlformats.org/presentationml/2006/main">
  <p:tag name="KSO_WM_DIAGRAM_VIRTUALLY_FRAME" val="{&quot;height&quot;:252,&quot;left&quot;:57.6,&quot;top&quot;:115.2,&quot;width&quot;:871.2}"/>
</p:tagLst>
</file>

<file path=ppt/tags/tag7.xml><?xml version="1.0" encoding="utf-8"?>
<p:tagLst xmlns:p="http://schemas.openxmlformats.org/presentationml/2006/main">
  <p:tag name="KSO_WM_DIAGRAM_VIRTUALLY_FRAME" val="{&quot;height&quot;:252,&quot;left&quot;:57.6,&quot;top&quot;:115.2,&quot;width&quot;:871.2}"/>
</p:tagLst>
</file>

<file path=ppt/tags/tag8.xml><?xml version="1.0" encoding="utf-8"?>
<p:tagLst xmlns:p="http://schemas.openxmlformats.org/presentationml/2006/main">
  <p:tag name="KSO_WM_DIAGRAM_VIRTUALLY_FRAME" val="{&quot;height&quot;:252,&quot;left&quot;:57.6,&quot;top&quot;:115.2,&quot;width&quot;:871.2}"/>
</p:tagLst>
</file>

<file path=ppt/tags/tag9.xml><?xml version="1.0" encoding="utf-8"?>
<p:tagLst xmlns:p="http://schemas.openxmlformats.org/presentationml/2006/main">
  <p:tag name="KSO_WM_DIAGRAM_VIRTUALLY_FRAME" val="{&quot;height&quot;:252,&quot;left&quot;:57.6,&quot;top&quot;:115.2,&quot;width&quot;:871.2}"/>
</p:tagLst>
</file>

<file path=ppt/tags/tag10.xml><?xml version="1.0" encoding="utf-8"?>
<p:tagLst xmlns:p="http://schemas.openxmlformats.org/presentationml/2006/main">
  <p:tag name="KSO_WM_DIAGRAM_VIRTUALLY_FRAME" val="{&quot;height&quot;:252,&quot;left&quot;:57.6,&quot;top&quot;:115.2,&quot;width&quot;:871.2}"/>
</p:tagLst>
</file>

<file path=ppt/tags/tag11.xml><?xml version="1.0" encoding="utf-8"?>
<p:tagLst xmlns:p="http://schemas.openxmlformats.org/presentationml/2006/main">
  <p:tag name="KSO_WM_DIAGRAM_VIRTUALLY_FRAME" val="{&quot;height&quot;:252,&quot;left&quot;:57.6,&quot;top&quot;:115.2,&quot;width&quot;:871.2}"/>
</p:tagLst>
</file>

<file path=ppt/tags/tag12.xml><?xml version="1.0" encoding="utf-8"?>
<p:tagLst xmlns:p="http://schemas.openxmlformats.org/presentationml/2006/main">
  <p:tag name="KSO_WM_DIAGRAM_VIRTUALLY_FRAME" val="{&quot;height&quot;:252,&quot;left&quot;:57.6,&quot;top&quot;:115.2,&quot;width&quot;:871.2}"/>
</p:tagLst>
</file>

<file path=ppt/tags/tag13.xml><?xml version="1.0" encoding="utf-8"?>
<p:tagLst xmlns:p="http://schemas.openxmlformats.org/presentationml/2006/main">
  <p:tag name="KSO_WM_DIAGRAM_VIRTUALLY_FRAME" val="{&quot;height&quot;:252,&quot;left&quot;:57.6,&quot;top&quot;:115.2,&quot;width&quot;:871.2}"/>
</p:tagLst>
</file>

<file path=ppt/tags/tag14.xml><?xml version="1.0" encoding="utf-8"?>
<p:tagLst xmlns:p="http://schemas.openxmlformats.org/presentationml/2006/main">
  <p:tag name="KSO_WM_DIAGRAM_VIRTUALLY_FRAME" val="{&quot;height&quot;:252,&quot;left&quot;:57.6,&quot;top&quot;:115.2,&quot;width&quot;:871.2}"/>
</p:tagLst>
</file>

<file path=ppt/tags/tag15.xml><?xml version="1.0" encoding="utf-8"?>
<p:tagLst xmlns:p="http://schemas.openxmlformats.org/presentationml/2006/main">
  <p:tag name="KSO_WM_DIAGRAM_VIRTUALLY_FRAME" val="{&quot;height&quot;:252,&quot;left&quot;:57.6,&quot;top&quot;:115.2,&quot;width&quot;:871.2}"/>
</p:tagLst>
</file>

<file path=ppt/tags/tag16.xml><?xml version="1.0" encoding="utf-8"?>
<p:tagLst xmlns:p="http://schemas.openxmlformats.org/presentationml/2006/main">
  <p:tag name="KSO_WM_DIAGRAM_VIRTUALLY_FRAME" val="{&quot;height&quot;:252,&quot;left&quot;:57.6,&quot;top&quot;:115.2,&quot;width&quot;:871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2572</Words>
  <Application>WPS 演示</Application>
  <PresentationFormat>On-screen Show (4:3)</PresentationFormat>
  <Paragraphs>492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MiSans Heavy</vt:lpstr>
      <vt:lpstr>MiSans Light</vt:lpstr>
      <vt:lpstr>Montserrat Black</vt:lpstr>
      <vt:lpstr>Segoe Print</vt:lpstr>
      <vt:lpstr>Cascadia Code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曹莉</cp:lastModifiedBy>
  <cp:revision>8</cp:revision>
  <dcterms:created xsi:type="dcterms:W3CDTF">2013-01-27T09:14:00Z</dcterms:created>
  <dcterms:modified xsi:type="dcterms:W3CDTF">2026-06-15T09:36:33Z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6F3B68640AF04CE3B4C63B01D44A94DE_12</vt:lpwstr>
  </property>
</Properties>
</file>