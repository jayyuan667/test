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54864" cy="4114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二维工艺系统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5E0"/>
                </a:solidFill>
                <a:latin typeface="Microsoft YaHei"/>
              </a:defRPr>
            </a:pPr>
            <a:r>
              <a:t>基于 2D 工艺图纸的 AI 智能工艺规程生成系统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566160"/>
            <a:ext cx="2743200" cy="27432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2026 年 6 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371600"/>
            <a:ext cx="2286000" cy="2286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0" y="1645920"/>
            <a:ext cx="2286000" cy="2286000"/>
          </a:xfrm>
          <a:prstGeom prst="rect">
            <a:avLst/>
          </a:prstGeom>
          <a:noFill/>
          <a:ln w="25400">
            <a:solidFill>
              <a:srgbClr val="FF6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4846320"/>
            <a:ext cx="20116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5E0"/>
                </a:solidFill>
                <a:latin typeface="Microsoft YaHei"/>
              </a:defRPr>
            </a:pPr>
            <a:r>
              <a:t>VLM 视觉提取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846320"/>
            <a:ext cx="20116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5E0"/>
                </a:solidFill>
                <a:latin typeface="Microsoft YaHei"/>
              </a:defRPr>
            </a:pPr>
            <a:r>
              <a:t>RAG 检索增强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4846320"/>
            <a:ext cx="20116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5E0"/>
                </a:solidFill>
                <a:latin typeface="Microsoft YaHei"/>
              </a:defRPr>
            </a:pPr>
            <a:r>
              <a:t>SSE 流式输出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846320"/>
            <a:ext cx="20116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5E0"/>
                </a:solidFill>
                <a:latin typeface="Microsoft YaHei"/>
              </a:defRPr>
            </a:pPr>
            <a:r>
              <a:t>SVG 标注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行业痛点与系统定位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Microsoft YaHei"/>
              </a:defRPr>
            </a:pPr>
            <a:r>
              <a:t>行业痛点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8483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效率低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传统工艺规程编写依赖人工经验，单件耗时 1-2 小时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9067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易遗漏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2D 图纸特征提取纯靠手工，尺寸公差、粗糙度等易漏项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0965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难复用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工艺知识分散在个人经验和 Excel 表格中，难以传承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0235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029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重复劳动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同类零件重复编写工艺规程，浪费大量工时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4846320" cy="4754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系统定位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用 AI 替代重复劳动，让工艺工程师聚焦核心判断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017520"/>
            <a:ext cx="8229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0358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017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2D 工艺图纸（PDF/PNG/JPG）</a:t>
            </a:r>
            <a:br/>
            <a:r>
              <a:t>或 3D 模型（PRT）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114800"/>
            <a:ext cx="8229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133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114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结构化工艺规程</a:t>
            </a:r>
            <a:br/>
            <a:r>
              <a:t>（工序号、工种、工序内容）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5212079"/>
            <a:ext cx="8229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23036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核心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2120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VLM 视觉特征提取</a:t>
            </a:r>
            <a:br/>
            <a:r>
              <a:t>+ RAG 知识库检索增强生成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核心业务流程与系统价值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上传图纸</a:t>
            </a:r>
            <a:br/>
            <a:r>
              <a:t>/模型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645920"/>
            <a:ext cx="18288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特征</a:t>
            </a:r>
            <a:br/>
            <a:r>
              <a:t>提取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645920"/>
            <a:ext cx="1828800" cy="1097280"/>
          </a:xfrm>
          <a:prstGeom prst="round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人工审阅</a:t>
            </a:r>
            <a:br/>
            <a:r>
              <a:t>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645920"/>
            <a:ext cx="18288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工艺规程</a:t>
            </a:r>
            <a:br/>
            <a:r>
              <a:t>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645920"/>
            <a:ext cx="18288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导出</a:t>
            </a:r>
            <a:br/>
            <a:r>
              <a:t>/入库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icrosoft YaHei"/>
              </a:defRPr>
            </a:pPr>
            <a:r>
              <a:t>系统价值对比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3657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34840"/>
                <a:gridCol w="443484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智能系统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特征提取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人工逐项标注，30-60min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AI 自动提取，2-5min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工艺编写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参考手册手写，1-2h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RAG+LLM 生成，5-10min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知识复用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依赖个人经验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知识库统一管理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质量一致性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因人而异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标准化模板+AI辅助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技术栈与架构特点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9768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层次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页面结构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HTML5 + CSS3 + 原生 JavaScript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3D 预览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Three.js + GLTFLoader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标注工具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自研 SVG BoundingBox 标注模块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PDF 导出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Vue 3 + jsPDF + OPPOSans 中文字体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后端通信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Fetch API + SSE 长连接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后端服务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Python Flask + SQLite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AI 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VLM 视觉语言模型 + RAG 检索增强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架构特点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201168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单页应用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240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侧栏导航 + 页面切换，无刷新跳转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278892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流式通信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017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SSE 长连接实时推送进度和工艺输出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356616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打字机动画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794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逐行逐字符输出工艺规程，模拟真人编写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34340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多库隔离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572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公共库（只读）+ 用户私有库（可编辑）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0" y="512064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特征缓存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349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按文件 hash 缓存，重复上传秒级响应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0" y="589788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零构建依赖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6126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全量原生开发，无需 Node/Webpack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四大核心模块与辅助功能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603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工艺入库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ZIP 工艺包批量导入知识库</a:t>
            </a:r>
            <a:br/>
            <a:r>
              <a:t>支持新建库/选择已有库</a:t>
            </a:r>
            <a:br/>
            <a:r>
              <a:t>替换/保留旧版冲突模式</a:t>
            </a:r>
            <a:br/>
            <a:r>
              <a:t>实时进度 + 匹配结果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463040"/>
            <a:ext cx="25603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560320" cy="54864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528"/>
                </a:solidFill>
                <a:latin typeface="Microsoft YaHei"/>
              </a:defRPr>
            </a:pPr>
            <a:r>
              <a:t>工艺生成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1945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上传图纸 AI 自动提取特征</a:t>
            </a:r>
            <a:br/>
            <a:r>
              <a:t>YOLO 自动检测标注</a:t>
            </a:r>
            <a:br/>
            <a:r>
              <a:t>RAG 检索 + LLM 生成工艺</a:t>
            </a:r>
            <a:br/>
            <a:r>
              <a:t>打字机动画逐行输出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25603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浏览所有历史生成任务</a:t>
            </a:r>
            <a:br/>
            <a:r>
              <a:t>统计概览（总数/完成/工序）</a:t>
            </a:r>
            <a:br/>
            <a:r>
              <a:t>快照回看 + 3D 预览</a:t>
            </a:r>
            <a:br/>
            <a:r>
              <a:t>批量管理 + 分页筛选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463040"/>
            <a:ext cx="25603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5603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Microsoft YaHei"/>
              </a:defRPr>
            </a:pPr>
            <a:r>
              <a:t>数据库浏览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1945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浏览编辑知识库记录</a:t>
            </a:r>
            <a:br/>
            <a:r>
              <a:t>多库隔离（公共/私有）</a:t>
            </a:r>
            <a:br/>
            <a:r>
              <a:t>三栏布局（筛选/列表/详情）</a:t>
            </a:r>
            <a:br/>
            <a:r>
              <a:t>支持记录编辑和删除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辅助功能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•  SVG 矢量标注工具（YOLO + 人工）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•  3D 模型预览（Three.js GLTF）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•  PDF 工艺卡片导出（jsPDF）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897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•  特征缓存机制（重复上传加速）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工艺入库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ZIP 工艺包批量导入知识库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入库目标：支持选择已有库或新建私有工艺库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冲突模式：替换入库 / 保留旧版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实时进度：空闲 → 上传中 → 解析中 → 入库中 → 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结果展示：已匹配记录、未匹配项、批次日志三个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入库流程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选择 ZIP 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47548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39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选择目标库</a:t>
            </a:r>
            <a:br/>
            <a:r>
              <a:t>冲突模式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47548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系统解析</a:t>
            </a:r>
            <a:br/>
            <a:r>
              <a:t>匹配内容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79" y="47548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79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逐条入库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799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754880"/>
            <a:ext cx="16459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显示匹配</a:t>
            </a:r>
            <a:br/>
            <a:r>
              <a:t>结果日志</a:t>
            </a:r>
          </a:p>
        </p:txBody>
      </p:sp>
      <p:pic>
        <p:nvPicPr>
          <p:cNvPr id="26" name="Picture 25" descr="screenshot-zip-rede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2486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工艺生成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上传图纸 → AI 提取 → 生成工艺规程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完整流程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① 上传图纸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PDF/PNG/JPG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2011680"/>
            <a:ext cx="1645920" cy="822960"/>
          </a:xfrm>
          <a:prstGeom prst="round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② AI 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VLM 视觉分析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0116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③ YOLO 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自动标注特征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20116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④ 人工审阅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确认/修改特征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999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011680"/>
            <a:ext cx="1645920" cy="822960"/>
          </a:xfrm>
          <a:prstGeom prst="round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⑤ 工艺生成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RAG+LLM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20116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⑥ 流式输出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打字机动画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界面布局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左侧：图纸预览（支持多页翻页、缩放、全屏）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右侧：特征审阅 Tab + 工艺规程 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顶部：统一进度条 + 阶段提示（呼吸灯动画）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83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底部：工具栏（上传/选择知识库/特征缓存/重置）</a:t>
            </a:r>
          </a:p>
        </p:txBody>
      </p:sp>
      <p:pic>
        <p:nvPicPr>
          <p:cNvPr id="35" name="Picture 34" descr="screenshot-gen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017520"/>
            <a:ext cx="5486400" cy="2712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标注工具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YOLO 自动检测 + 人工精修标注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•  YOLO 自动检测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AI 自动识别倒角、螺纹孔、圆孔等特征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•  人工标注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鼠标拖拽绘制矩形框，右键删除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•  标签系统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内建 3 类标签 + 自定义标签（持久化）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•  多页支持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PDF 多页独立标注，切换自动保存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•  缩放适配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Ctrl+滚轮缩放，适应视口/100%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•  双向联动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画布点击↔列表点击，自动滚动定位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•  自动保存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1s 防抖 + sendBeacon 页面关闭兜底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•  导出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标注数据导出为 ZIP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标签类型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512064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标签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颜色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键名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倒角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#f59e0b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chamfer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螺纹孔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#6366f1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threaded_hole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圆孔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#10b981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circle_hole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自定义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循环色池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用户自定义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浏览所有历史工艺生成任务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统计概览：总任务数、已完成数、待审阅数、总工序数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任务列表：任务名、状态、完成时间、工序数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快照回看：分栏预览（左图右文），支持图片缩放/翻页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3D 预览：PRT 模型的三维视图（Three.js GLTF）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批量管理：多选删除、按日期筛选、分页浏览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任务状态体系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49377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23513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排队中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等待处理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图纸分析中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AI 正在提取特征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特征审阅中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等待人工确认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工艺生成中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RAG+LLM 生成工艺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工艺规程已生成</a:t>
                      </a:r>
                    </a:p>
                  </a:txBody>
                  <a:tcPr/>
                </a:tc>
              </a:tr>
              <a:tr h="2351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失败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处理异常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Picture 13" descr="screenshot-history-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27127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数据库浏览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知识库管理与工艺记录编辑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访问控制：默认锁定，需先完成一次 ZIP 入库解锁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多库架构：公共工艺库（只读）+ 用户私有库（可编辑）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三栏布局：左侧筛选、中间记录列表、右侧详情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筛选维度：关键词、产品类型、来源、状态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详情编辑：记录元数据、模型快照、工艺内容、特征报告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 操作：编辑记录、删除废表、删除整个用户库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知识库隔离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5486400"/>
          <a:ext cx="5029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库类型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权限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公共工艺库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只读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全局共享基线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用户私有库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读写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个人工艺积累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Picture 14" descr="screenshot-db-un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27127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AI 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VLM 视觉提取 + RAG 检索增强生成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VLM 视觉特征提取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输入：2D 工艺图纸（PDF/PNG/JPG）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输出：结构化特征报告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1089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尺寸公差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31089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表面粗糙度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3566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形位公差</a:t>
            </a:r>
          </a:p>
        </p:txBody>
      </p:sp>
      <p:sp>
        <p:nvSpPr>
          <p:cNvPr id="16" name="Oval 15"/>
          <p:cNvSpPr/>
          <p:nvPr/>
        </p:nvSpPr>
        <p:spPr>
          <a:xfrm>
            <a:off x="3474720" y="3566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材料信息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40233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加工要求</a:t>
            </a:r>
          </a:p>
        </p:txBody>
      </p:sp>
      <p:sp>
        <p:nvSpPr>
          <p:cNvPr id="20" name="Oval 19"/>
          <p:cNvSpPr/>
          <p:nvPr/>
        </p:nvSpPr>
        <p:spPr>
          <a:xfrm>
            <a:off x="3474720" y="40233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热处理要求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528"/>
                </a:solidFill>
                <a:latin typeface="Microsoft YaHei"/>
              </a:defRPr>
            </a:pPr>
            <a:r>
              <a:t>特征缓存机制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按文件 hash 判断是否为同一份图纸，开启后跳过 VLM 特征提取，</a:t>
            </a:r>
            <a:br/>
            <a:r>
              <a:t>直接返回上次结果，加速重复上传场景。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63040"/>
            <a:ext cx="5029200" cy="4846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528"/>
                </a:solidFill>
                <a:latin typeface="Microsoft YaHei"/>
              </a:defRPr>
            </a:pPr>
            <a:r>
              <a:t>RAG 检索增强生成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286000"/>
            <a:ext cx="54864" cy="548640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① 知识库检索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606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在工艺知识库中检索相似工艺记录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200400"/>
            <a:ext cx="54864" cy="548640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② 特征融合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结合 AI 特征报告和检索结果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114800"/>
            <a:ext cx="54864" cy="548640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③ LLM 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大语言模型生成结构化工艺规程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029200"/>
            <a:ext cx="54864" cy="548640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④ 流式输出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SSE 推送 + 打字机逐行输出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输出格式：工序号 @ 工种 @ 工序内容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4648" y="1371600"/>
            <a:ext cx="18288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56DB"/>
                </a:solidFill>
                <a:latin typeface="Cascadia Code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840480"/>
            <a:ext cx="1828800" cy="27432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5E0"/>
                </a:solidFill>
                <a:latin typeface="Microsoft YaHei"/>
              </a:defRPr>
            </a:pPr>
            <a:r>
              <a:t>二维工艺系统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12064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5157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5E0"/>
                </a:solidFill>
                <a:latin typeface="Microsoft YaHei"/>
              </a:defRPr>
            </a:pPr>
            <a:r>
              <a:t>VLM 视觉提取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12064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5157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5E0"/>
                </a:solidFill>
                <a:latin typeface="Microsoft YaHei"/>
              </a:defRPr>
            </a:pPr>
            <a:r>
              <a:t>RAG 检索增强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12064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57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5E0"/>
                </a:solidFill>
                <a:latin typeface="Microsoft YaHei"/>
              </a:defRPr>
            </a:pPr>
            <a:r>
              <a:t>SSE 流式输出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512064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5157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5E0"/>
                </a:solidFill>
                <a:latin typeface="Microsoft YaHei"/>
              </a:defRPr>
            </a:pPr>
            <a:r>
              <a:t>SVG 标注工具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4648" y="5943600"/>
            <a:ext cx="18288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